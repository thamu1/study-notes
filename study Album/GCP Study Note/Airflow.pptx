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9" r:id="rId2"/>
    <p:sldId id="257" r:id="rId3"/>
    <p:sldId id="258" r:id="rId4"/>
    <p:sldId id="259" r:id="rId5"/>
    <p:sldId id="260" r:id="rId6"/>
    <p:sldId id="311"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91" r:id="rId32"/>
    <p:sldId id="312" r:id="rId33"/>
    <p:sldId id="292" r:id="rId34"/>
    <p:sldId id="293" r:id="rId35"/>
    <p:sldId id="294" r:id="rId36"/>
    <p:sldId id="295" r:id="rId37"/>
    <p:sldId id="296" r:id="rId38"/>
    <p:sldId id="297" r:id="rId39"/>
    <p:sldId id="301" r:id="rId40"/>
    <p:sldId id="302" r:id="rId41"/>
    <p:sldId id="303" r:id="rId42"/>
    <p:sldId id="304" r:id="rId43"/>
  </p:sldIdLst>
  <p:sldSz cx="6070600" cy="3422650"/>
  <p:notesSz cx="6070600" cy="34226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3" d="100"/>
          <a:sy n="133" d="100"/>
        </p:scale>
        <p:origin x="864"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55771" y="1061021"/>
            <a:ext cx="5165407" cy="7187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911542" y="1916684"/>
            <a:ext cx="4253865" cy="85566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03847" y="787209"/>
            <a:ext cx="2643473" cy="22589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129629" y="787209"/>
            <a:ext cx="2643473" cy="22589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3847" y="136906"/>
            <a:ext cx="5469255" cy="54762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03847" y="787209"/>
            <a:ext cx="5469255" cy="225894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066163" y="3183064"/>
            <a:ext cx="1944624" cy="17113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03847" y="3183064"/>
            <a:ext cx="1397698" cy="17113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2/1/2023</a:t>
            </a:fld>
            <a:endParaRPr lang="en-US"/>
          </a:p>
        </p:txBody>
      </p:sp>
      <p:sp>
        <p:nvSpPr>
          <p:cNvPr id="6" name="Holder 6"/>
          <p:cNvSpPr>
            <a:spLocks noGrp="1"/>
          </p:cNvSpPr>
          <p:nvPr>
            <p:ph type="sldNum" sz="quarter" idx="7"/>
          </p:nvPr>
        </p:nvSpPr>
        <p:spPr>
          <a:xfrm>
            <a:off x="4375404" y="3183064"/>
            <a:ext cx="1397698" cy="17113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C421-AFA9-4849-BACF-64D2633775B7}"/>
              </a:ext>
            </a:extLst>
          </p:cNvPr>
          <p:cNvSpPr>
            <a:spLocks noGrp="1"/>
          </p:cNvSpPr>
          <p:nvPr>
            <p:ph type="ctrTitle"/>
          </p:nvPr>
        </p:nvSpPr>
        <p:spPr>
          <a:xfrm>
            <a:off x="455771" y="1061021"/>
            <a:ext cx="5165407" cy="553998"/>
          </a:xfrm>
        </p:spPr>
        <p:txBody>
          <a:bodyPr/>
          <a:lstStyle/>
          <a:p>
            <a:pPr algn="ctr"/>
            <a:r>
              <a:rPr lang="en-US" sz="3600" dirty="0"/>
              <a:t>Airflow</a:t>
            </a:r>
            <a:endParaRPr lang="en-IN" sz="3600" dirty="0"/>
          </a:p>
        </p:txBody>
      </p:sp>
    </p:spTree>
    <p:extLst>
      <p:ext uri="{BB962C8B-B14F-4D97-AF65-F5344CB8AC3E}">
        <p14:creationId xmlns:p14="http://schemas.microsoft.com/office/powerpoint/2010/main" val="406918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8A3A5CB-98F7-4300-8381-917C777B7D42}"/>
              </a:ext>
            </a:extLst>
          </p:cNvPr>
          <p:cNvSpPr>
            <a:spLocks noGrp="1" noChangeArrowheads="1"/>
          </p:cNvSpPr>
          <p:nvPr>
            <p:ph type="ctrTitle"/>
          </p:nvPr>
        </p:nvSpPr>
        <p:spPr bwMode="auto">
          <a:xfrm>
            <a:off x="3275886" y="339725"/>
            <a:ext cx="2775664" cy="2639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1" i="0" u="none" strike="noStrike" cap="none" normalizeH="0" baseline="0" dirty="0">
                <a:ln>
                  <a:noFill/>
                </a:ln>
                <a:solidFill>
                  <a:srgbClr val="707070"/>
                </a:solidFill>
                <a:effectLst/>
                <a:latin typeface="roboto"/>
              </a:rPr>
              <a:t>Metadata Database</a:t>
            </a:r>
            <a:r>
              <a:rPr kumimoji="0" lang="en-US" altLang="en-US" sz="600" b="0" i="0" u="none" strike="noStrike" cap="none" normalizeH="0" baseline="0" dirty="0">
                <a:ln>
                  <a:noFill/>
                </a:ln>
                <a:solidFill>
                  <a:srgbClr val="707070"/>
                </a:solidFill>
                <a:effectLst/>
                <a:latin typeface="roboto"/>
              </a:rPr>
              <a:t>: Airflow uses a SQL database to store metadata about the data pipelines being run. In the diagram above, this is represented as Postgres which is extremely popular with Airflow. Alternate databases supported with Airflow include MySQL.</a:t>
            </a:r>
            <a:br>
              <a:rPr kumimoji="0" lang="en-US" altLang="en-US" sz="600" b="0" i="0" u="none" strike="noStrike" cap="none" normalizeH="0" baseline="0" dirty="0">
                <a:ln>
                  <a:noFill/>
                </a:ln>
                <a:solidFill>
                  <a:srgbClr val="707070"/>
                </a:solidFill>
                <a:effectLst/>
                <a:latin typeface="roboto"/>
              </a:rPr>
            </a:b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1" i="0" u="none" strike="noStrike" cap="none" normalizeH="0" baseline="0" dirty="0">
                <a:ln>
                  <a:noFill/>
                </a:ln>
                <a:solidFill>
                  <a:srgbClr val="707070"/>
                </a:solidFill>
                <a:effectLst/>
                <a:latin typeface="roboto"/>
              </a:rPr>
              <a:t>Web Server</a:t>
            </a:r>
            <a:r>
              <a:rPr kumimoji="0" lang="en-US" altLang="en-US" sz="600" b="0" i="0" u="none" strike="noStrike" cap="none" normalizeH="0" baseline="0" dirty="0">
                <a:ln>
                  <a:noFill/>
                </a:ln>
                <a:solidFill>
                  <a:srgbClr val="707070"/>
                </a:solidFill>
                <a:effectLst/>
                <a:latin typeface="roboto"/>
              </a:rPr>
              <a:t> and </a:t>
            </a:r>
            <a:r>
              <a:rPr kumimoji="0" lang="en-US" altLang="en-US" sz="600" b="1" i="0" u="none" strike="noStrike" cap="none" normalizeH="0" baseline="0" dirty="0">
                <a:ln>
                  <a:noFill/>
                </a:ln>
                <a:solidFill>
                  <a:srgbClr val="707070"/>
                </a:solidFill>
                <a:effectLst/>
                <a:latin typeface="roboto"/>
              </a:rPr>
              <a:t>Scheduler</a:t>
            </a:r>
            <a:r>
              <a:rPr kumimoji="0" lang="en-US" altLang="en-US" sz="600" b="0" i="0" u="none" strike="noStrike" cap="none" normalizeH="0" baseline="0" dirty="0">
                <a:ln>
                  <a:noFill/>
                </a:ln>
                <a:solidFill>
                  <a:srgbClr val="707070"/>
                </a:solidFill>
                <a:effectLst/>
                <a:latin typeface="roboto"/>
              </a:rPr>
              <a:t>: The Airflow web server and Scheduler are separate processes run (in this case) on the local machine and interact with the database mentioned above.</a:t>
            </a:r>
            <a:br>
              <a:rPr kumimoji="0" lang="en-US" altLang="en-US" sz="600" b="0" i="0" u="none" strike="noStrike" cap="none" normalizeH="0" baseline="0" dirty="0">
                <a:ln>
                  <a:noFill/>
                </a:ln>
                <a:solidFill>
                  <a:srgbClr val="707070"/>
                </a:solidFill>
                <a:effectLst/>
                <a:latin typeface="roboto"/>
              </a:rPr>
            </a:b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a:ln>
                  <a:noFill/>
                </a:ln>
                <a:solidFill>
                  <a:srgbClr val="707070"/>
                </a:solidFill>
                <a:effectLst/>
                <a:latin typeface="roboto"/>
              </a:rPr>
              <a:t>The </a:t>
            </a:r>
            <a:r>
              <a:rPr kumimoji="0" lang="en-US" altLang="en-US" sz="600" b="1" i="0" u="none" strike="noStrike" cap="none" normalizeH="0" baseline="0" dirty="0">
                <a:ln>
                  <a:noFill/>
                </a:ln>
                <a:solidFill>
                  <a:srgbClr val="707070"/>
                </a:solidFill>
                <a:effectLst/>
                <a:latin typeface="roboto"/>
              </a:rPr>
              <a:t>Executor</a:t>
            </a:r>
            <a:r>
              <a:rPr kumimoji="0" lang="en-US" altLang="en-US" sz="600" b="0" i="0" u="none" strike="noStrike" cap="none" normalizeH="0" baseline="0" dirty="0">
                <a:ln>
                  <a:noFill/>
                </a:ln>
                <a:solidFill>
                  <a:srgbClr val="707070"/>
                </a:solidFill>
                <a:effectLst/>
                <a:latin typeface="roboto"/>
              </a:rPr>
              <a:t> in reality it is NOT a separate process, but run within the Scheduler.</a:t>
            </a:r>
            <a:br>
              <a:rPr kumimoji="0" lang="en-US" altLang="en-US" sz="600" b="0" i="0" u="none" strike="noStrike" cap="none" normalizeH="0" baseline="0" dirty="0">
                <a:ln>
                  <a:noFill/>
                </a:ln>
                <a:solidFill>
                  <a:srgbClr val="707070"/>
                </a:solidFill>
                <a:effectLst/>
                <a:latin typeface="roboto"/>
              </a:rPr>
            </a:b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a:ln>
                  <a:noFill/>
                </a:ln>
                <a:solidFill>
                  <a:srgbClr val="707070"/>
                </a:solidFill>
                <a:effectLst/>
                <a:latin typeface="roboto"/>
              </a:rPr>
              <a:t>The </a:t>
            </a:r>
            <a:r>
              <a:rPr kumimoji="0" lang="en-US" altLang="en-US" sz="600" b="1" i="0" u="none" strike="noStrike" cap="none" normalizeH="0" baseline="0" dirty="0">
                <a:ln>
                  <a:noFill/>
                </a:ln>
                <a:solidFill>
                  <a:srgbClr val="707070"/>
                </a:solidFill>
                <a:effectLst/>
                <a:latin typeface="roboto"/>
              </a:rPr>
              <a:t>Worker(s)</a:t>
            </a:r>
            <a:r>
              <a:rPr kumimoji="0" lang="en-US" altLang="en-US" sz="600" b="0" i="0" u="none" strike="noStrike" cap="none" normalizeH="0" baseline="0" dirty="0">
                <a:ln>
                  <a:noFill/>
                </a:ln>
                <a:solidFill>
                  <a:srgbClr val="707070"/>
                </a:solidFill>
                <a:effectLst/>
                <a:latin typeface="roboto"/>
              </a:rPr>
              <a:t> are separate processes which also interact with the other components of the Airflow architecture and the metadata repository.</a:t>
            </a:r>
            <a:br>
              <a:rPr kumimoji="0" lang="en-US" altLang="en-US" sz="600" b="0" i="0" u="none" strike="noStrike" cap="none" normalizeH="0" baseline="0" dirty="0">
                <a:ln>
                  <a:noFill/>
                </a:ln>
                <a:solidFill>
                  <a:srgbClr val="707070"/>
                </a:solidFill>
                <a:effectLst/>
                <a:latin typeface="roboto"/>
              </a:rPr>
            </a:b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err="1">
                <a:ln>
                  <a:noFill/>
                </a:ln>
                <a:solidFill>
                  <a:srgbClr val="E74C3C"/>
                </a:solidFill>
                <a:effectLst/>
                <a:latin typeface="roboto mono"/>
              </a:rPr>
              <a:t>airflow.cfg</a:t>
            </a:r>
            <a:r>
              <a:rPr kumimoji="0" lang="en-US" altLang="en-US" sz="900" b="0" i="0" u="none" strike="noStrike" cap="none" normalizeH="0" baseline="0" dirty="0">
                <a:ln>
                  <a:noFill/>
                </a:ln>
                <a:solidFill>
                  <a:srgbClr val="707070"/>
                </a:solidFill>
                <a:effectLst/>
                <a:latin typeface="roboto"/>
              </a:rPr>
              <a:t> </a:t>
            </a:r>
            <a:r>
              <a:rPr kumimoji="0" lang="en-US" altLang="en-US" sz="600" b="0" i="0" u="none" strike="noStrike" cap="none" normalizeH="0" baseline="0" dirty="0">
                <a:ln>
                  <a:noFill/>
                </a:ln>
                <a:solidFill>
                  <a:srgbClr val="707070"/>
                </a:solidFill>
                <a:effectLst/>
                <a:latin typeface="roboto"/>
              </a:rPr>
              <a:t>is the Airflow configuration file which is accessed by the Web Server, Scheduler, and Workers.</a:t>
            </a:r>
            <a:br>
              <a:rPr kumimoji="0" lang="en-US" altLang="en-US" sz="600" b="0" i="0" u="none" strike="noStrike" cap="none" normalizeH="0" baseline="0" dirty="0">
                <a:ln>
                  <a:noFill/>
                </a:ln>
                <a:solidFill>
                  <a:srgbClr val="707070"/>
                </a:solidFill>
                <a:effectLst/>
                <a:latin typeface="roboto"/>
              </a:rPr>
            </a:b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1" i="0" u="none" strike="noStrike" cap="none" normalizeH="0" baseline="0" dirty="0">
                <a:ln>
                  <a:noFill/>
                </a:ln>
                <a:solidFill>
                  <a:srgbClr val="707070"/>
                </a:solidFill>
                <a:effectLst/>
                <a:latin typeface="roboto"/>
              </a:rPr>
              <a:t>DAGs</a:t>
            </a:r>
            <a:r>
              <a:rPr kumimoji="0" lang="en-US" altLang="en-US" sz="600" b="0" i="0" u="none" strike="noStrike" cap="none" normalizeH="0" baseline="0" dirty="0">
                <a:ln>
                  <a:noFill/>
                </a:ln>
                <a:solidFill>
                  <a:srgbClr val="707070"/>
                </a:solidFill>
                <a:effectLst/>
                <a:latin typeface="roboto"/>
              </a:rPr>
              <a:t> refers to the DAG files containing Python code, representing the data pipelines to be run by Airflow. The location of these files is specified in the Airflow configuration file, but they need to be accessible by the Web Server, Scheduler, and Workers.</a:t>
            </a:r>
            <a:endParaRPr kumimoji="0" lang="en-US" altLang="en-US" sz="600" b="0" i="0" u="none" strike="noStrike" cap="none" normalizeH="0" baseline="0" dirty="0">
              <a:ln>
                <a:noFill/>
              </a:ln>
              <a:solidFill>
                <a:srgbClr val="70707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pic>
        <p:nvPicPr>
          <p:cNvPr id="2053" name="Picture 5" descr="_images/arch-diag-basic.png">
            <a:extLst>
              <a:ext uri="{FF2B5EF4-FFF2-40B4-BE49-F238E27FC236}">
                <a16:creationId xmlns:a16="http://schemas.microsoft.com/office/drawing/2014/main" id="{A23F04DD-AB0B-4559-A5C4-EE7029D1E0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3525"/>
            <a:ext cx="3275886" cy="2639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731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4711700" cy="3419475"/>
          </a:xfrm>
          <a:prstGeom prst="rect">
            <a:avLst/>
          </a:prstGeom>
        </p:spPr>
      </p:pic>
      <p:pic>
        <p:nvPicPr>
          <p:cNvPr id="3074" name="Picture 2" descr="Crontab – Quick Reference">
            <a:extLst>
              <a:ext uri="{FF2B5EF4-FFF2-40B4-BE49-F238E27FC236}">
                <a16:creationId xmlns:a16="http://schemas.microsoft.com/office/drawing/2014/main" id="{72BC9F84-02CE-4561-8751-0E431AB67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1100" y="1101725"/>
            <a:ext cx="2232207" cy="144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0BF08C-AB7B-4DCF-934A-E472F1F3D4AB}"/>
              </a:ext>
            </a:extLst>
          </p:cNvPr>
          <p:cNvSpPr/>
          <p:nvPr/>
        </p:nvSpPr>
        <p:spPr>
          <a:xfrm>
            <a:off x="444500" y="263525"/>
            <a:ext cx="3035300" cy="461665"/>
          </a:xfrm>
          <a:prstGeom prst="rect">
            <a:avLst/>
          </a:prstGeom>
        </p:spPr>
        <p:txBody>
          <a:bodyPr>
            <a:spAutoFit/>
          </a:bodyPr>
          <a:lstStyle/>
          <a:p>
            <a:r>
              <a:rPr lang="en-US" sz="2400" b="1" dirty="0">
                <a:solidFill>
                  <a:schemeClr val="accent5">
                    <a:lumMod val="50000"/>
                  </a:schemeClr>
                </a:solidFill>
              </a:rPr>
              <a:t>Big Query Operator</a:t>
            </a:r>
            <a:endParaRPr lang="en-IN" sz="2400" b="1" dirty="0">
              <a:solidFill>
                <a:schemeClr val="accent5">
                  <a:lumMod val="50000"/>
                </a:schemeClr>
              </a:solidFill>
            </a:endParaRPr>
          </a:p>
        </p:txBody>
      </p:sp>
      <p:sp>
        <p:nvSpPr>
          <p:cNvPr id="5" name="Rectangle 4">
            <a:extLst>
              <a:ext uri="{FF2B5EF4-FFF2-40B4-BE49-F238E27FC236}">
                <a16:creationId xmlns:a16="http://schemas.microsoft.com/office/drawing/2014/main" id="{24B2BDDA-F5B6-42BA-AD8F-CC867017DF3F}"/>
              </a:ext>
            </a:extLst>
          </p:cNvPr>
          <p:cNvSpPr/>
          <p:nvPr/>
        </p:nvSpPr>
        <p:spPr>
          <a:xfrm>
            <a:off x="292100" y="1064994"/>
            <a:ext cx="5562600" cy="646331"/>
          </a:xfrm>
          <a:prstGeom prst="rect">
            <a:avLst/>
          </a:prstGeom>
        </p:spPr>
        <p:txBody>
          <a:bodyPr wrap="square">
            <a:spAutoFit/>
          </a:bodyPr>
          <a:lstStyle/>
          <a:p>
            <a:r>
              <a:rPr lang="en-IN" i="1" u="sng" dirty="0">
                <a:solidFill>
                  <a:srgbClr val="0070C0"/>
                </a:solidFill>
              </a:rPr>
              <a:t>https://airflow.apache.org/docs/apache-airflow-providers-google/stable/operators/cloud/bigquery.html</a:t>
            </a:r>
          </a:p>
        </p:txBody>
      </p:sp>
    </p:spTree>
    <p:extLst>
      <p:ext uri="{BB962C8B-B14F-4D97-AF65-F5344CB8AC3E}">
        <p14:creationId xmlns:p14="http://schemas.microsoft.com/office/powerpoint/2010/main" val="3988194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076950" cy="34194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642</TotalTime>
  <Words>224</Words>
  <Application>Microsoft Office PowerPoint</Application>
  <PresentationFormat>Custom</PresentationFormat>
  <Paragraphs>10</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open sans</vt:lpstr>
      <vt:lpstr>roboto</vt:lpstr>
      <vt:lpstr>roboto mono</vt:lpstr>
      <vt:lpstr>Office Theme</vt:lpstr>
      <vt:lpstr>Airflow</vt:lpstr>
      <vt:lpstr>PowerPoint Presentation</vt:lpstr>
      <vt:lpstr>PowerPoint Presentation</vt:lpstr>
      <vt:lpstr>PowerPoint Presentation</vt:lpstr>
      <vt:lpstr>PowerPoint Presentation</vt:lpstr>
      <vt:lpstr> Metadata Database: Airflow uses a SQL database to store metadata about the data pipelines being run. In the diagram above, this is represented as Postgres which is extremely popular with Airflow. Alternate databases supported with Airflow include MySQL.  Web Server and Scheduler: The Airflow web server and Scheduler are separate processes run (in this case) on the local machine and interact with the database mentioned above.  The Executor in reality it is NOT a separate process, but run within the Scheduler.  The Worker(s) are separate processes which also interact with the other components of the Airflow architecture and the metadata repository.  airflow.cfg is the Airflow configuration file which is accessed by the Web Server, Scheduler, and Workers.  DAGs refers to the DAG files containing Python code, representing the data pipelines to be run by Airflow. The location of these files is specified in the Airflow configuration file, but they need to be accessible by the Web Server, Scheduler, and Workers.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Airflow</dc:title>
  <cp:lastModifiedBy>Balaji  Subramani</cp:lastModifiedBy>
  <cp:revision>6</cp:revision>
  <dcterms:created xsi:type="dcterms:W3CDTF">2023-01-19T15:39:11Z</dcterms:created>
  <dcterms:modified xsi:type="dcterms:W3CDTF">2023-02-02T04:36:35Z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2023-01-19T00:00:00Z</vt:filetime>
  </property>
  <property fmtid="{D5CDD505-2E9C-101B-9397-08002B2CF9AE}" pid="3" name="LastSaved">
    <vt:filetime>2023-01-19T00:00:00Z</vt:filetime>
  </property>
</Properties>
</file>